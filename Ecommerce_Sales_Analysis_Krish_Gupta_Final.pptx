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85800"/>
            <a:ext cx="109728" cy="539496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051560"/>
            <a:ext cx="9966960" cy="1737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t>E-COMMERCE SALES</a:t>
            </a:r>
            <a:br/>
            <a:r>
              <a:t>ANALYSIS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63240"/>
            <a:ext cx="96012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0">
                <a:solidFill>
                  <a:srgbClr val="B9DAF6"/>
                </a:solidFill>
                <a:latin typeface="Aptos"/>
              </a:defRPr>
            </a:pPr>
            <a:r>
              <a:t>Business Intelligence • Interactive Power BI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977639"/>
            <a:ext cx="4114800" cy="54864"/>
          </a:xfrm>
          <a:prstGeom prst="rect">
            <a:avLst/>
          </a:prstGeom>
          <a:solidFill>
            <a:srgbClr val="2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987552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rPr sz="1300">
                <a:solidFill>
                  <a:srgbClr val="FFFFFF"/>
                </a:solidFill>
                <a:latin typeface="Aptos"/>
              </a:rPr>
              <a:t>Presented by: Krish Suryavanshi Gupta</a:t>
            </a:r>
            <a:br/>
            <a:r>
              <a:rPr sz="1300">
                <a:solidFill>
                  <a:srgbClr val="FFFFFF"/>
                </a:solidFill>
                <a:latin typeface="Aptos"/>
              </a:rPr>
              <a:t>BBA – Business Analytics | Submitted to: Mr. Arif Raza     Roll No.: 1240645097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080760"/>
            <a:ext cx="9601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0BEBE"/>
                </a:solidFill>
                <a:latin typeface="Aptos"/>
              </a:defRPr>
            </a:pPr>
            <a:r>
              <a:t>POWER BI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41C37"/>
                </a:solidFill>
                <a:latin typeface="Aptos Display"/>
              </a:defRPr>
            </a:pPr>
            <a:r>
              <a:t>01  | 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49808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646D80"/>
                </a:solidFill>
                <a:latin typeface="Aptos"/>
              </a:defRPr>
            </a:pPr>
            <a:r>
              <a:t>A single view of sales, profit, products and customer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42B3B"/>
                </a:solidFill>
                <a:latin typeface="Aptos"/>
              </a:defRPr>
            </a:pPr>
            <a:r>
              <a:t>•  This project uses Power BI to convert e-commerce transaction data into an interactive visual dashboard.</a:t>
            </a:r>
          </a:p>
          <a:p>
            <a:pPr>
              <a:spcAft>
                <a:spcPts val="1500"/>
              </a:spcAft>
              <a:defRPr sz="1900">
                <a:solidFill>
                  <a:srgbClr val="242B3B"/>
                </a:solidFill>
                <a:latin typeface="Aptos"/>
              </a:defRPr>
            </a:pPr>
            <a:r>
              <a:t>•  The report brings together four headline indicators: Amount, Quantity, Profit and Average Order Value (AOV).</a:t>
            </a:r>
          </a:p>
          <a:p>
            <a:pPr>
              <a:spcAft>
                <a:spcPts val="1500"/>
              </a:spcAft>
              <a:defRPr sz="1900">
                <a:solidFill>
                  <a:srgbClr val="242B3B"/>
                </a:solidFill>
                <a:latin typeface="Aptos"/>
              </a:defRPr>
            </a:pPr>
            <a:r>
              <a:t>•  Additional visuals compare state-level sales, category mix, monthly profit, customer contribution, payment modes and sub-category profitability.</a:t>
            </a:r>
          </a:p>
          <a:p>
            <a:pPr>
              <a:spcAft>
                <a:spcPts val="1500"/>
              </a:spcAft>
              <a:defRPr sz="1900">
                <a:solidFill>
                  <a:srgbClr val="242B3B"/>
                </a:solidFill>
                <a:latin typeface="Aptos"/>
              </a:defRPr>
            </a:pPr>
            <a:r>
              <a:t>•  The goal is to make performance patterns easier to explore and to support evidence-based business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41C37"/>
                </a:solidFill>
                <a:latin typeface="Aptos Display"/>
              </a:defRPr>
            </a:pPr>
            <a:r>
              <a:t>02  |  Dashboard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49808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646D80"/>
                </a:solidFill>
                <a:latin typeface="Aptos"/>
              </a:defRPr>
            </a:pPr>
            <a:r>
              <a:t>The submitted Power BI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001545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027" y="1353312"/>
            <a:ext cx="8335639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41C37"/>
                </a:solidFill>
                <a:latin typeface="Aptos Display"/>
              </a:defRPr>
            </a:pPr>
            <a:r>
              <a:t>03  |  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49808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646D80"/>
                </a:solidFill>
                <a:latin typeface="Aptos"/>
              </a:defRPr>
            </a:pPr>
            <a:r>
              <a:t>Headline values visible in the dashboard screenshot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91440" cy="1325880"/>
          </a:xfrm>
          <a:prstGeom prst="rect">
            <a:avLst/>
          </a:prstGeom>
          <a:solidFill>
            <a:srgbClr val="2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56231"/>
            <a:ext cx="21488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900" b="1">
                <a:solidFill>
                  <a:srgbClr val="141C37"/>
                </a:solidFill>
                <a:latin typeface="Aptos Display"/>
              </a:defRPr>
            </a:pPr>
            <a:r>
              <a:t>438K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21488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646D80"/>
                </a:solidFill>
                <a:latin typeface="Aptos"/>
              </a:defRPr>
            </a:pPr>
            <a:r>
              <a:t>Total Amount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645920"/>
            <a:ext cx="25603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645920"/>
            <a:ext cx="91440" cy="132588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856231"/>
            <a:ext cx="21488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900" b="1">
                <a:solidFill>
                  <a:srgbClr val="141C37"/>
                </a:solidFill>
                <a:latin typeface="Aptos Display"/>
              </a:defRPr>
            </a:pPr>
            <a:r>
              <a:t>6K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23160"/>
            <a:ext cx="21488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646D80"/>
                </a:solidFill>
                <a:latin typeface="Aptos"/>
              </a:defRPr>
            </a:pPr>
            <a:r>
              <a:t>Total Quantity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645920"/>
            <a:ext cx="25603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645920"/>
            <a:ext cx="91440" cy="1325880"/>
          </a:xfrm>
          <a:prstGeom prst="rect">
            <a:avLst/>
          </a:prstGeom>
          <a:solidFill>
            <a:srgbClr val="4C3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856231"/>
            <a:ext cx="21488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900" b="1">
                <a:solidFill>
                  <a:srgbClr val="141C37"/>
                </a:solidFill>
                <a:latin typeface="Aptos Display"/>
              </a:defRPr>
            </a:pPr>
            <a:r>
              <a:t>37K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423160"/>
            <a:ext cx="21488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646D80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645920"/>
            <a:ext cx="25603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72600" y="1645920"/>
            <a:ext cx="91440" cy="1325880"/>
          </a:xfrm>
          <a:prstGeom prst="rect">
            <a:avLst/>
          </a:prstGeom>
          <a:solidFill>
            <a:srgbClr val="F5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856231"/>
            <a:ext cx="21488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900" b="1">
                <a:solidFill>
                  <a:srgbClr val="141C37"/>
                </a:solidFill>
                <a:latin typeface="Aptos Display"/>
              </a:defRPr>
            </a:pPr>
            <a:r>
              <a:t>121.014K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423160"/>
            <a:ext cx="21488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646D80"/>
                </a:solidFill>
                <a:latin typeface="Aptos"/>
              </a:defRPr>
            </a:pPr>
            <a:r>
              <a:t>Sum of AOV shown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42900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Amount and Quantity summarize overall recorded sales volume.</a:t>
            </a:r>
          </a:p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Profit provides a headline view of the dataset’s recorded profitability.</a:t>
            </a:r>
          </a:p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The AOV card should be validated: confirm whether the intended metric is average order value or a sum of row-level AOV values, and format it appropriately before final submission.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41C37"/>
                </a:solidFill>
                <a:latin typeface="Aptos Display"/>
              </a:defRPr>
            </a:pPr>
            <a:r>
              <a:t>04  |  Visual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49808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646D80"/>
                </a:solidFill>
                <a:latin typeface="Aptos"/>
              </a:defRPr>
            </a:pPr>
            <a:r>
              <a:t>What each visual helps the viewer investigate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444752"/>
            <a:ext cx="507492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82296" cy="1170432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91056"/>
            <a:ext cx="45720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41C37"/>
                </a:solidFill>
                <a:latin typeface="Aptos"/>
              </a:defRPr>
            </a:pPr>
            <a:r>
              <a:t>State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38528"/>
            <a:ext cx="45720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42B3B"/>
                </a:solidFill>
                <a:latin typeface="Aptos"/>
              </a:defRPr>
            </a:pPr>
            <a:r>
              <a:t>Amount by State identifies which displayed states contribute higher recorded sales.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44752"/>
            <a:ext cx="507492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444752"/>
            <a:ext cx="82296" cy="1170432"/>
          </a:xfrm>
          <a:prstGeom prst="rect">
            <a:avLst/>
          </a:prstGeom>
          <a:solidFill>
            <a:srgbClr val="2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591056"/>
            <a:ext cx="45720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41C37"/>
                </a:solidFill>
                <a:latin typeface="Aptos"/>
              </a:defRPr>
            </a:pPr>
            <a:r>
              <a:t>Product mix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1938528"/>
            <a:ext cx="45720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42B3B"/>
                </a:solidFill>
                <a:latin typeface="Aptos"/>
              </a:defRPr>
            </a:pPr>
            <a:r>
              <a:t>Quantity by Category compares the distribution of clothing, electronics and furniture.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926080"/>
            <a:ext cx="507492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926080"/>
            <a:ext cx="82296" cy="1170432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72384"/>
            <a:ext cx="45720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41C37"/>
                </a:solidFill>
                <a:latin typeface="Aptos"/>
              </a:defRPr>
            </a:pPr>
            <a:r>
              <a:t>Monthly 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19856"/>
            <a:ext cx="45720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42B3B"/>
                </a:solidFill>
                <a:latin typeface="Aptos"/>
              </a:defRPr>
            </a:pPr>
            <a:r>
              <a:t>Profit by Month highlights months with positive and negative recorded profit.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926080"/>
            <a:ext cx="507492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2926080"/>
            <a:ext cx="82296" cy="1170432"/>
          </a:xfrm>
          <a:prstGeom prst="rect">
            <a:avLst/>
          </a:prstGeom>
          <a:solidFill>
            <a:srgbClr val="2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3072384"/>
            <a:ext cx="45720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41C37"/>
                </a:solidFill>
                <a:latin typeface="Aptos"/>
              </a:defRPr>
            </a:pPr>
            <a:r>
              <a:t>Customer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419856"/>
            <a:ext cx="45720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42B3B"/>
                </a:solidFill>
                <a:latin typeface="Aptos"/>
              </a:defRPr>
            </a:pPr>
            <a:r>
              <a:t>Amount by Customer Name compares the customers shown in the visual.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07408"/>
            <a:ext cx="507492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407408"/>
            <a:ext cx="82296" cy="1170432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553712"/>
            <a:ext cx="45720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41C37"/>
                </a:solidFill>
                <a:latin typeface="Aptos"/>
              </a:defRPr>
            </a:pPr>
            <a:r>
              <a:t>Payment behaviour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901184"/>
            <a:ext cx="45720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42B3B"/>
                </a:solidFill>
                <a:latin typeface="Aptos"/>
              </a:defRPr>
            </a:pPr>
            <a:r>
              <a:t>Quantity by Payment Mode compares COD, UPI, debit and credit card categories.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407408"/>
            <a:ext cx="507492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4407408"/>
            <a:ext cx="82296" cy="1170432"/>
          </a:xfrm>
          <a:prstGeom prst="rect">
            <a:avLst/>
          </a:prstGeom>
          <a:solidFill>
            <a:srgbClr val="2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4553712"/>
            <a:ext cx="45720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41C37"/>
                </a:solidFill>
                <a:latin typeface="Aptos"/>
              </a:defRPr>
            </a:pPr>
            <a:r>
              <a:t>Sub-category profit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901184"/>
            <a:ext cx="45720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42B3B"/>
                </a:solidFill>
                <a:latin typeface="Aptos"/>
              </a:defRPr>
            </a:pPr>
            <a:r>
              <a:t>Profit by Sub-Category compares the displayed product sub-categories.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41C37"/>
                </a:solidFill>
                <a:latin typeface="Aptos Display"/>
              </a:defRPr>
            </a:pPr>
            <a:r>
              <a:t>05  |  Business Insights &amp;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49808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646D80"/>
                </a:solidFill>
                <a:latin typeface="Aptos"/>
              </a:defRPr>
            </a:pPr>
            <a:r>
              <a:t>Use the dashboard to investigate patterns—not just display charts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Which states contribute the highest sales amount in the selected data?</a:t>
            </a:r>
          </a:p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How is quantity distributed across the three product categories?</a:t>
            </a:r>
          </a:p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Which months show negative profit and should be investigated further?</a:t>
            </a:r>
          </a:p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Which payment modes account for the largest share of recorded quantity?</a:t>
            </a:r>
          </a:p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Which sub-categories have comparatively higher or lower profit?</a:t>
            </a:r>
          </a:p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Quarter and state filters can help compare performance across selected segments.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41C37"/>
                </a:solidFill>
                <a:latin typeface="Aptos Display"/>
              </a:defRPr>
            </a:pPr>
            <a:r>
              <a:t>06  |  Methodology &amp; 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49808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646D80"/>
                </a:solidFill>
                <a:latin typeface="Aptos"/>
              </a:defRPr>
            </a:pPr>
            <a:r>
              <a:t>A reliable dashboard needs correct data and correctly defined measures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Load the source dataset into Power BI Desktop and confirm column data types.</a:t>
            </a:r>
          </a:p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Use Power Query to check missing values, duplicate rows and inconsistent category/state labels.</a:t>
            </a:r>
          </a:p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Build visuals using the relevant fields and measures; ensure the quarter controls filter the intended charts.</a:t>
            </a:r>
          </a:p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Validate Amount, Quantity and Profit against the source data; check AOV calculation and formatting carefully.</a:t>
            </a:r>
          </a:p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This dashboard is descriptive analytics: it summarizes historical records and does not, by itself, predict future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41C37"/>
                </a:solidFill>
                <a:latin typeface="Aptos Display"/>
              </a:defRPr>
            </a:pPr>
            <a:r>
              <a:t>07  |  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49808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646D80"/>
                </a:solidFill>
                <a:latin typeface="Aptos"/>
              </a:defRPr>
            </a:pPr>
            <a:r>
              <a:t>Turning dashboard observations into useful follow-up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Investigate negative-profit months by reviewing discounts, costs, product mix and transaction details where those fields are available.</a:t>
            </a:r>
          </a:p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Compare state and sub-category performance before proposing inventory or marketing actions.</a:t>
            </a:r>
          </a:p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Review payment-mode patterns alongside order value and profit rather than quantity alone.</a:t>
            </a:r>
          </a:p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Add date, category and state slicers only where they improve usability and do not overcrowd the report.</a:t>
            </a:r>
          </a:p>
          <a:p>
            <a:pPr>
              <a:spcAft>
                <a:spcPts val="1500"/>
              </a:spcAft>
              <a:defRPr sz="1800">
                <a:solidFill>
                  <a:srgbClr val="242B3B"/>
                </a:solidFill>
                <a:latin typeface="Aptos"/>
              </a:defRPr>
            </a:pPr>
            <a:r>
              <a:t>•  Document the data source, metric definitions and any assumptions in the final project README.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31520"/>
            <a:ext cx="1024128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>
                <a:solidFill>
                  <a:srgbClr val="00BEBE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058400" cy="1920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The E-commerce Sales Analysis Dashboard consolidates key sales and profit measures into one interactive Power BI report. It enables quick comparison across states, categories, months, customers, payment methods and sub-categories.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069080"/>
            <a:ext cx="2743200" cy="54864"/>
          </a:xfrm>
          <a:prstGeom prst="rect">
            <a:avLst/>
          </a:prstGeom>
          <a:solidFill>
            <a:srgbClr val="2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617720"/>
            <a:ext cx="98755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852160"/>
            <a:ext cx="98755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B9DAF6"/>
                </a:solidFill>
                <a:latin typeface="Aptos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